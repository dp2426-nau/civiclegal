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1/10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800" b="1" i="0">
                <a:solidFill>
                  <a:srgbClr val="FFFFFF"/>
                </a:solidFill>
              </a:rPr>
              <a:t>CivicLegal AI</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1" i="0">
                <a:solidFill>
                  <a:srgbClr val="B3D1F0"/>
                </a:solidFill>
              </a:rPr>
              <a:t>AI-Powered Citizen Legal Rights &amp; Government Services Navigator</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300" b="0" i="0">
                <a:solidFill>
                  <a:srgbClr val="1A3A5C"/>
                </a:solidFill>
              </a:rPr>
              <a:t>Project Proposal  |  April 2026  |  github.com/dp2426-NAU/Civiclegal</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2/10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400" b="1" i="0">
                <a:solidFill>
                  <a:srgbClr val="FFFFFF"/>
                </a:solidFill>
              </a:rPr>
              <a:t>The Problem</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0" i="0">
                <a:solidFill>
                  <a:srgbClr val="FFFFFF"/>
                </a:solidFill>
              </a:rPr>
              <a:t>57 Million Americans Face Civil Legal Problems Annually</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200" b="0" i="0">
                <a:solidFill>
                  <a:srgbClr val="1A3A5C"/>
                </a:solidFill>
              </a:rPr>
              <a:t>• Only ~20% receive adequate legal assistance
• Legal information is buried across court databases and government portals
• Complex legal language is inaccessible to most citizens
• Millions miss government benefits they are eligible for</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3/10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400" b="1" i="0">
                <a:solidFill>
                  <a:srgbClr val="FFFFFF"/>
                </a:solidFill>
              </a:rPr>
              <a:t>The Solution: CivicLegal AI</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0" i="0">
                <a:solidFill>
                  <a:srgbClr val="FFFFFF"/>
                </a:solidFill>
              </a:rPr>
              <a:t>Three Core Capabilities</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200" b="0" i="0">
                <a:solidFill>
                  <a:srgbClr val="1A3A5C"/>
                </a:solidFill>
              </a:rPr>
              <a:t>1.  Legal Rights Navigator
     Ask plain-language questions — get cited, grounded answers
2.  Benefits Finder
     Automatic eligibility matching for 10 federal programs
3.  Document Upload
     Upload legal documents for contextual analysis</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4/10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400" b="1" i="0">
                <a:solidFill>
                  <a:srgbClr val="FFFFFF"/>
                </a:solidFill>
              </a:rPr>
              <a:t>System Architecture</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0" i="0">
                <a:solidFill>
                  <a:srgbClr val="FFFFFF"/>
                </a:solidFill>
              </a:rPr>
              <a:t>Technology Stack</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200" b="0" i="0">
                <a:solidFill>
                  <a:srgbClr val="1A3A5C"/>
                </a:solidFill>
              </a:rPr>
              <a:t>Frontend:   Streamlit (4 tabs, sidebar disclaimer)
Backend:    FastAPI  — /legal-query, /benefits-match, /upload-document
RAG:        LangChain + ChromaDB + FAISS + BM25 Hybrid Retrieval
LLM:        GPT-4  →  Mistral 7B (Ollama)  →  Demo Mode
Embeddings: msmarco-MiniLM-L-6-v2
Reranker:   ms-marco cross-encoder  |  Temperature = 0</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5/10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400" b="1" i="0">
                <a:solidFill>
                  <a:srgbClr val="FFFFFF"/>
                </a:solidFill>
              </a:rPr>
              <a:t>RAG Pipeline</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0" i="0">
                <a:solidFill>
                  <a:srgbClr val="FFFFFF"/>
                </a:solidFill>
              </a:rPr>
              <a:t>Retrieval-Augmented Generation Flow</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200" b="0" i="0">
                <a:solidFill>
                  <a:srgbClr val="1A3A5C"/>
                </a:solidFill>
              </a:rPr>
              <a:t>1.  User query  →  BM25 keyword search + Vector semantic search
2.  Score fusion  →  Cross-encoder reranking (ms-marco)
3.  Top-K context assembled  →  Constrained system prompt
4.  LLM inference at Temperature = 0
5.  Hallucination Guard (5 layers)  →  Grounded response
Chunk Size: 500 tokens  |  Overlap: 75  |  Min Similarity: 0.50</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6/10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400" b="1" i="0">
                <a:solidFill>
                  <a:srgbClr val="FFFFFF"/>
                </a:solidFill>
              </a:rPr>
              <a:t>Anti-Hallucination System</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0" i="0">
                <a:solidFill>
                  <a:srgbClr val="FFFFFF"/>
                </a:solidFill>
              </a:rPr>
              <a:t>5-Layer Safety Guard</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200" b="0" i="0">
                <a:solidFill>
                  <a:srgbClr val="1A3A5C"/>
                </a:solidFill>
              </a:rPr>
              <a:t>Layer 1  Refusal detection  —  uncertainty signals penalise confidence
Layer 2  Grounding check  —  cosine similarity ≥ 0.50 required
Layer 3  Overconfidence detection  —  absolute claims capped at 70%
Layer 4  Citation validation  —  ungrounded sources filtered
Layer 5  Disclaimer injection  —  on every single response
If grounding score &lt; 0.50  →  safe refusal returned (never hallucinated answer)</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7/10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400" b="1" i="0">
                <a:solidFill>
                  <a:srgbClr val="FFFFFF"/>
                </a:solidFill>
              </a:rPr>
              <a:t>Benefits Finder</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0" i="0">
                <a:solidFill>
                  <a:srgbClr val="FFFFFF"/>
                </a:solidFill>
              </a:rPr>
              <a:t>10 Federal Programs — Automated Eligibility Matching</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200" b="0" i="0">
                <a:solidFill>
                  <a:srgbClr val="1A3A5C"/>
                </a:solidFill>
              </a:rPr>
              <a:t>Programs:  SNAP · Medicaid · CHIP · WIC · TANF
           Section 8 · SSI · SSDI · EITC · LIHEAP
Inputs:    Household size · Annual income · State
           Children · Disability · Veteran · Age
Output:    Eligibility status · Reason · Required documents · Apply link
Uses 2024 Federal Poverty Level (FPL) guidelines</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8/10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400" b="1" i="0">
                <a:solidFill>
                  <a:srgbClr val="FFFFFF"/>
                </a:solidFill>
              </a:rPr>
              <a:t>Data Sources &amp; APIs</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0" i="0">
                <a:solidFill>
                  <a:srgbClr val="FFFFFF"/>
                </a:solidFill>
              </a:rPr>
              <a:t>All with graceful demo fallback</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200" b="0" i="0">
                <a:solidFill>
                  <a:srgbClr val="1A3A5C"/>
                </a:solidFill>
              </a:rPr>
              <a:t>CourtListener      Federal and state court opinions
Congress.gov       Federal legislation (118th Congress)
Regulations.gov    Federal regulatory documents
Benefits.gov       Government benefit program data
CUAD Dataset       Contract analysis
Sample Docs        Tenant rights, ADA, Constitutional rights
All API clients return labelled demo data when keys are unavailable</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9/10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400" b="1" i="0">
                <a:solidFill>
                  <a:srgbClr val="FFFFFF"/>
                </a:solidFill>
              </a:rPr>
              <a:t>Deployment</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0" i="0">
                <a:solidFill>
                  <a:srgbClr val="FFFFFF"/>
                </a:solidFill>
              </a:rPr>
              <a:t>Localhost &amp; Render.com</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200" b="0" i="0">
                <a:solidFill>
                  <a:srgbClr val="1A3A5C"/>
                </a:solidFill>
              </a:rPr>
              <a:t>Local Run:
  Backend:   uvicorn backend.main:app --port 8000
  Frontend:  streamlit run frontend/app.py --server.port 8501
Render.com (one-click):
  render.yaml deploys both FastAPI + Streamlit automatically
  Connect github.com/dp2426-NAU/Civiclegal  →  Apply
Demo mode: USE_DEMO_DATA=true — no API keys required</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716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137160"/>
            <a:ext cx="594360" cy="365760"/>
          </a:xfrm>
          <a:prstGeom prst="rect">
            <a:avLst/>
          </a:prstGeom>
          <a:solidFill>
            <a:srgbClr val="2E6D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0" y="137160"/>
            <a:ext cx="594360" cy="365760"/>
          </a:xfrm>
          <a:prstGeom prst="rect">
            <a:avLst/>
          </a:prstGeom>
          <a:noFill/>
        </p:spPr>
        <p:txBody>
          <a:bodyPr wrap="square">
            <a:spAutoFit/>
          </a:bodyPr>
          <a:lstStyle/>
          <a:p>
            <a:pPr algn="ctr"/>
            <a:r>
              <a:rPr sz="1000" b="1" i="0">
                <a:solidFill>
                  <a:srgbClr val="FFFFFF"/>
                </a:solidFill>
              </a:rPr>
              <a:t>10/10</a:t>
            </a:r>
          </a:p>
        </p:txBody>
      </p:sp>
      <p:sp>
        <p:nvSpPr>
          <p:cNvPr id="5" name="TextBox 4"/>
          <p:cNvSpPr txBox="1"/>
          <p:nvPr/>
        </p:nvSpPr>
        <p:spPr>
          <a:xfrm>
            <a:off x="365760" y="91440"/>
            <a:ext cx="10515600" cy="685800"/>
          </a:xfrm>
          <a:prstGeom prst="rect">
            <a:avLst/>
          </a:prstGeom>
          <a:noFill/>
        </p:spPr>
        <p:txBody>
          <a:bodyPr wrap="square">
            <a:spAutoFit/>
          </a:bodyPr>
          <a:lstStyle/>
          <a:p>
            <a:pPr algn="l"/>
            <a:r>
              <a:rPr sz="2400" b="1" i="0">
                <a:solidFill>
                  <a:srgbClr val="FFFFFF"/>
                </a:solidFill>
              </a:rPr>
              <a:t>Impact &amp; Next Steps</a:t>
            </a:r>
          </a:p>
        </p:txBody>
      </p:sp>
      <p:sp>
        <p:nvSpPr>
          <p:cNvPr id="6" name="TextBox 5"/>
          <p:cNvSpPr txBox="1"/>
          <p:nvPr/>
        </p:nvSpPr>
        <p:spPr>
          <a:xfrm>
            <a:off x="365760" y="777240"/>
            <a:ext cx="10515600" cy="502920"/>
          </a:xfrm>
          <a:prstGeom prst="rect">
            <a:avLst/>
          </a:prstGeom>
          <a:noFill/>
        </p:spPr>
        <p:txBody>
          <a:bodyPr wrap="square">
            <a:spAutoFit/>
          </a:bodyPr>
          <a:lstStyle/>
          <a:p>
            <a:pPr algn="l"/>
            <a:r>
              <a:rPr sz="1400" b="0" i="0">
                <a:solidFill>
                  <a:srgbClr val="FFFFFF"/>
                </a:solidFill>
              </a:rPr>
              <a:t>Making Legal Information as Accessible as a Search Engine</a:t>
            </a:r>
          </a:p>
        </p:txBody>
      </p:sp>
      <p:sp>
        <p:nvSpPr>
          <p:cNvPr id="7" name="Rectangle 6"/>
          <p:cNvSpPr/>
          <p:nvPr/>
        </p:nvSpPr>
        <p:spPr>
          <a:xfrm>
            <a:off x="0" y="1371600"/>
            <a:ext cx="12188952" cy="5486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08760"/>
            <a:ext cx="11247120" cy="5212080"/>
          </a:xfrm>
          <a:prstGeom prst="rect">
            <a:avLst/>
          </a:prstGeom>
          <a:noFill/>
        </p:spPr>
        <p:txBody>
          <a:bodyPr wrap="square">
            <a:spAutoFit/>
          </a:bodyPr>
          <a:lstStyle/>
          <a:p>
            <a:pPr algn="l"/>
            <a:r>
              <a:rPr sz="1200" b="0" i="0">
                <a:solidFill>
                  <a:srgbClr val="1A3A5C"/>
                </a:solidFill>
              </a:rPr>
              <a:t>Current MVP:
  Full RAG pipeline  ·  Anti-hallucination guard  ·  10 benefit programs
  Demo mode (zero API keys)  ·  Render.com ready
Roadmap:
  Multilingual support (Spanish, Chinese, Arabic)
  State-specific law databases
  Integration with local legal aid organisations
  Mobile application
LEGAL DISCLAIMER: CivicLegal AI provides general legal INFORMATION only — NOT legal advice. Consult a licensed attorney for advice specific to your situation.</a:t>
            </a:r>
          </a:p>
        </p:txBody>
      </p:sp>
      <p:sp>
        <p:nvSpPr>
          <p:cNvPr id="9" name="Rectangle 8"/>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spAutoFit/>
          </a:bodyPr>
          <a:lstStyle/>
          <a:p>
            <a:pPr algn="ctr"/>
            <a:r>
              <a:rPr sz="800" b="0" i="0">
                <a:solidFill>
                  <a:srgbClr val="FFFFFF"/>
                </a:solidFill>
              </a:rPr>
              <a:t>CivicLegal AI  |  Legal Information Only — NOT Legal Advice  |  github.com/dp2426-NAU/Civiclegal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